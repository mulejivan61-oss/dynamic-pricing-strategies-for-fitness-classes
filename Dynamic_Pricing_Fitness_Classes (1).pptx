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3A3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C3A3E"/>
                </a:solidFill>
                <a:latin typeface="Calibri"/>
              </a:rPr>
              <a:t>Model Comparison – Test R² Score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R²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C3A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Linear Regression</c:v>
                  </c:pt>
                  <c:pt idx="1">
                    <c:v>Random Forest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0.7858</c:v>
                </c:pt>
                <c:pt idx="1">
                  <c:v>0.8235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300" u="none">
                  <a:solidFill>
                    <a:srgbClr val="1C3A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3A3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2EC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3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Pricing Strategies for Fitness Classes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Based on Demand, Time and Location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519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9F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
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Jivan Bhausaheb Mule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0" y="4251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9F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
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B2E3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fitness centre uses a fixed pricing strategy for all classes, no matter how much demand there is.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76200" dist="25400" dir="5400000">
              <a:srgbClr val="1C3A3E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3017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price for busy and quiet classes.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27889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76200" dist="25400" dir="5400000">
              <a:srgbClr val="1C3A3E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03320" y="3017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3657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occupancy during off-peak hours.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7889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76200" dist="25400" dir="5400000">
              <a:srgbClr val="1C3A3E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37960" y="3017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3657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opportunities are missed.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0" y="27889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76200" dist="25400" dir="5400000">
              <a:srgbClr val="1C3A3E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72600" y="3017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3726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26880" y="3657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prediction of future demand.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8006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892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513892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dynamic pricing system to maximise revenue and improve class occupancy.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 out to 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customer booking behaviour.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086600" y="160020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demand patterns using historical data.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017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278892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Price Elasticity Model.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17920" y="27889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30175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086600" y="278892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future demand.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08760" y="397764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dynamic pricing strategies.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217920" y="39776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4206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86600" y="397764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revenue per class and overall business revenue.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 &amp; Key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4937760" cy="5074920"/>
          </a:xfrm>
          <a:prstGeom prst="roundRect">
            <a:avLst>
              <a:gd name="adj" fmla="val 1852"/>
            </a:avLst>
          </a:prstGeom>
          <a:solidFill>
            <a:srgbClr val="0B2E33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508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PERFORMED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0120" y="208483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9385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26517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5054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Handling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321868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0723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0120" y="378561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6393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Slot Analysis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0120" y="435254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206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Day-wise Analysis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0120" y="49194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7731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Location-wise Analysis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60120" y="548640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53400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Analysis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06440" y="1234440"/>
            <a:ext cx="574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806440" y="1691640"/>
            <a:ext cx="57424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63500" dist="25400" dir="5400000">
              <a:srgbClr val="1C3A3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07608" y="19888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007608" y="1988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29400" y="1691640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classes generated higher overall revenue.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06440" y="2926080"/>
            <a:ext cx="57424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63500" dist="25400" dir="5400000">
              <a:srgbClr val="1C3A3E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07608" y="32232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007608" y="3223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629400" y="2926080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classes consistently achieved high occupancy.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806440" y="4160520"/>
            <a:ext cx="57424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63500" dist="25400" dir="5400000">
              <a:srgbClr val="1C3A3E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07608" y="44577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007608" y="4457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629400" y="4160520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demand changes based on day, time and location.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806440" y="5394960"/>
            <a:ext cx="57424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63500" dist="25400" dir="5400000">
              <a:srgbClr val="1C3A3E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07608" y="56921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6007608" y="56921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629400" y="5394960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pricing is not suitable for all classes.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Elasticity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tested to predict prices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1554480"/>
            <a:ext cx="4754880" cy="3749040"/>
          </a:xfrm>
          <a:prstGeom prst="roundRect">
            <a:avLst>
              <a:gd name="adj" fmla="val 2439"/>
            </a:avLst>
          </a:prstGeom>
          <a:solidFill>
            <a:srgbClr val="0B2E33"/>
          </a:solidFill>
          <a:ln/>
        </p:spPr>
      </p:sp>
      <p:sp>
        <p:nvSpPr>
          <p:cNvPr id="6" name="Text 3"/>
          <p:cNvSpPr/>
          <p:nvPr/>
        </p:nvSpPr>
        <p:spPr>
          <a:xfrm>
            <a:off x="708660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086600" y="2148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Regressor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08660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F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086600" y="324612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7360920" y="31089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prediction accuracy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086600" y="390448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7360920" y="376732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prediction error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086600" y="456285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7360920" y="442569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handling of non-linear relationships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Pricing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RULES ARE BASED 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Classes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43784" y="141732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2935224" y="141732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Slot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47488" y="141732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138928" y="141732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51192" y="141732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7342632" y="141732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454896" y="141732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9546336" y="141732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RULES IN ACTION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350215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76200" dist="25400" dir="5400000">
              <a:srgbClr val="1C3A3E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71116" y="31546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2071116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22960" y="393192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Occupancy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29768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price slightly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16552" y="2880360"/>
            <a:ext cx="350215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76200" dist="25400" dir="5400000">
              <a:srgbClr val="1C3A3E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47588" y="31546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5847588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99432" y="393192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Occupancy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99432" y="429768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discount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93024" y="2880360"/>
            <a:ext cx="350215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76200" dist="25400" dir="5400000">
              <a:srgbClr val="1C3A3E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624060" y="3154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962406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375904" y="393192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Classes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75904" y="429768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premium pricing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4983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helps balance demand while increasing revenue.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297680" cy="4389120"/>
          </a:xfrm>
          <a:prstGeom prst="roundRect">
            <a:avLst>
              <a:gd name="adj" fmla="val 2128"/>
            </a:avLst>
          </a:prstGeom>
          <a:solidFill>
            <a:srgbClr val="0B2E33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73736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∿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forecast future class demand based on historical booking patterns over time.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57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57800" y="1783080"/>
            <a:ext cx="29946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22392" y="20345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22392" y="20345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0" y="178308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future bookings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26780" y="1783080"/>
            <a:ext cx="29946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91372" y="203454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8691372" y="20345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212580" y="178308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class scheduling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57800" y="2926080"/>
            <a:ext cx="29946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22392" y="31775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5422392" y="31775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943600" y="292608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trainer allocation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26780" y="2926080"/>
            <a:ext cx="29946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91372" y="317754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8691372" y="31775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12580" y="292608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pricing decisions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257800" y="4069080"/>
            <a:ext cx="29946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22392" y="43205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5422392" y="43205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943600" y="406908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inventory and capacity planning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9F6F4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37160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prices during high-demand periods.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600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086600" y="137160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discounts during low-demand periods.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9F6F4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788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256032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premium pricing for popular classes.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25603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2788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86600" y="256032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location-based pricing.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9F6F4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374904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demand weekly for better planning.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37490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977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86600" y="374904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occupancy continuously and adjust prices dynamically.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benefits of the dynamic pricing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0215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63500" dist="25400" dir="5400000">
              <a:srgbClr val="1C3A3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Class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81635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1554480"/>
            <a:ext cx="350215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63500" dist="25400" dir="5400000">
              <a:srgbClr val="1C3A3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17830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45152" y="24688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Revenue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45152" y="281635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93024" y="1554480"/>
            <a:ext cx="350215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63500" dist="25400" dir="5400000">
              <a:srgbClr val="1C3A3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21624" y="17830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162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21624" y="24688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1624" y="281635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474720"/>
            <a:ext cx="350215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63500" dist="25400" dir="5400000">
              <a:srgbClr val="1C3A3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37033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68680" y="43891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Utilisation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73659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16552" y="3474720"/>
            <a:ext cx="350215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63500" dist="25400" dir="5400000">
              <a:srgbClr val="1C3A3E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37033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645152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☺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645152" y="43891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45152" y="473659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availability and pricing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93024" y="3474720"/>
            <a:ext cx="350215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63500" dist="25400" dir="5400000">
              <a:srgbClr val="1C3A3E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21624" y="37033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421624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421624" y="43891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21624" y="473659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pricing strategy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18872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shows how Machine Learning can improve pricing decisions in the fitness industry.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542032" cy="777240"/>
          </a:xfrm>
          <a:prstGeom prst="roundRect">
            <a:avLst>
              <a:gd name="adj" fmla="val 9412"/>
            </a:avLst>
          </a:prstGeom>
          <a:solidFill>
            <a:srgbClr val="12474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68880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47872" y="2468880"/>
            <a:ext cx="2542032" cy="777240"/>
          </a:xfrm>
          <a:prstGeom prst="roundRect">
            <a:avLst>
              <a:gd name="adj" fmla="val 9412"/>
            </a:avLst>
          </a:prstGeom>
          <a:solidFill>
            <a:srgbClr val="12474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2468880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2784" y="2468880"/>
            <a:ext cx="2542032" cy="777240"/>
          </a:xfrm>
          <a:prstGeom prst="roundRect">
            <a:avLst>
              <a:gd name="adj" fmla="val 9412"/>
            </a:avLst>
          </a:prstGeom>
          <a:solidFill>
            <a:srgbClr val="12474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4224" y="2468880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97696" y="2468880"/>
            <a:ext cx="2542032" cy="777240"/>
          </a:xfrm>
          <a:prstGeom prst="roundRect">
            <a:avLst>
              <a:gd name="adj" fmla="val 9412"/>
            </a:avLst>
          </a:prstGeom>
          <a:solidFill>
            <a:srgbClr val="12474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89136" y="2468880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ORGANISATION CAN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96849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8313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revenue per class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22960" y="442569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2885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occupancy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22960" y="488289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7457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pricing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22960" y="534009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52029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overall business profitability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22960" y="5989320"/>
            <a:ext cx="2743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6126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2026-07-28T17:43:19Z</dcterms:created>
  <dcterms:modified xsi:type="dcterms:W3CDTF">2026-07-28T17:43:19Z</dcterms:modified>
</cp:coreProperties>
</file>